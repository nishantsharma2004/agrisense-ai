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7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nt Sharma" userId="ca5215d97c842314" providerId="LiveId" clId="{474684D4-C2A8-4695-B974-B4B1B93C9A3A}"/>
    <pc:docChg chg="modSld">
      <pc:chgData name="Nishant Sharma" userId="ca5215d97c842314" providerId="LiveId" clId="{474684D4-C2A8-4695-B974-B4B1B93C9A3A}" dt="2026-06-14T10:16:09.164" v="41" actId="1076"/>
      <pc:docMkLst>
        <pc:docMk/>
      </pc:docMkLst>
      <pc:sldChg chg="modSp mod">
        <pc:chgData name="Nishant Sharma" userId="ca5215d97c842314" providerId="LiveId" clId="{474684D4-C2A8-4695-B974-B4B1B93C9A3A}" dt="2026-06-14T10:11:19.697" v="1" actId="14100"/>
        <pc:sldMkLst>
          <pc:docMk/>
          <pc:sldMk cId="0" sldId="261"/>
        </pc:sldMkLst>
        <pc:spChg chg="mod">
          <ac:chgData name="Nishant Sharma" userId="ca5215d97c842314" providerId="LiveId" clId="{474684D4-C2A8-4695-B974-B4B1B93C9A3A}" dt="2026-06-14T10:10:56.262" v="0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Nishant Sharma" userId="ca5215d97c842314" providerId="LiveId" clId="{474684D4-C2A8-4695-B974-B4B1B93C9A3A}" dt="2026-06-14T10:11:19.697" v="1" actId="14100"/>
          <ac:spMkLst>
            <pc:docMk/>
            <pc:sldMk cId="0" sldId="261"/>
            <ac:spMk id="24" creationId="{00000000-0000-0000-0000-000000000000}"/>
          </ac:spMkLst>
        </pc:spChg>
      </pc:sldChg>
      <pc:sldChg chg="modSp mod">
        <pc:chgData name="Nishant Sharma" userId="ca5215d97c842314" providerId="LiveId" clId="{474684D4-C2A8-4695-B974-B4B1B93C9A3A}" dt="2026-06-14T10:16:09.164" v="41" actId="1076"/>
        <pc:sldMkLst>
          <pc:docMk/>
          <pc:sldMk cId="0" sldId="264"/>
        </pc:sldMkLst>
        <pc:spChg chg="mod">
          <ac:chgData name="Nishant Sharma" userId="ca5215d97c842314" providerId="LiveId" clId="{474684D4-C2A8-4695-B974-B4B1B93C9A3A}" dt="2026-06-14T10:15:16.942" v="34" actId="1076"/>
          <ac:spMkLst>
            <pc:docMk/>
            <pc:sldMk cId="0" sldId="264"/>
            <ac:spMk id="29" creationId="{00000000-0000-0000-0000-000000000000}"/>
          </ac:spMkLst>
        </pc:spChg>
        <pc:spChg chg="mod">
          <ac:chgData name="Nishant Sharma" userId="ca5215d97c842314" providerId="LiveId" clId="{474684D4-C2A8-4695-B974-B4B1B93C9A3A}" dt="2026-06-14T10:13:38.342" v="17" actId="1076"/>
          <ac:spMkLst>
            <pc:docMk/>
            <pc:sldMk cId="0" sldId="264"/>
            <ac:spMk id="30" creationId="{00000000-0000-0000-0000-000000000000}"/>
          </ac:spMkLst>
        </pc:spChg>
        <pc:spChg chg="mod">
          <ac:chgData name="Nishant Sharma" userId="ca5215d97c842314" providerId="LiveId" clId="{474684D4-C2A8-4695-B974-B4B1B93C9A3A}" dt="2026-06-14T10:14:33.508" v="28" actId="1076"/>
          <ac:spMkLst>
            <pc:docMk/>
            <pc:sldMk cId="0" sldId="264"/>
            <ac:spMk id="31" creationId="{00000000-0000-0000-0000-000000000000}"/>
          </ac:spMkLst>
        </pc:spChg>
        <pc:spChg chg="mod">
          <ac:chgData name="Nishant Sharma" userId="ca5215d97c842314" providerId="LiveId" clId="{474684D4-C2A8-4695-B974-B4B1B93C9A3A}" dt="2026-06-14T10:16:09.164" v="41" actId="1076"/>
          <ac:spMkLst>
            <pc:docMk/>
            <pc:sldMk cId="0" sldId="264"/>
            <ac:spMk id="32" creationId="{00000000-0000-0000-0000-000000000000}"/>
          </ac:spMkLst>
        </pc:spChg>
        <pc:spChg chg="mod">
          <ac:chgData name="Nishant Sharma" userId="ca5215d97c842314" providerId="LiveId" clId="{474684D4-C2A8-4695-B974-B4B1B93C9A3A}" dt="2026-06-14T10:16:05.652" v="40" actId="1076"/>
          <ac:spMkLst>
            <pc:docMk/>
            <pc:sldMk cId="0" sldId="264"/>
            <ac:spMk id="33" creationId="{00000000-0000-0000-0000-000000000000}"/>
          </ac:spMkLst>
        </pc:spChg>
        <pc:spChg chg="mod">
          <ac:chgData name="Nishant Sharma" userId="ca5215d97c842314" providerId="LiveId" clId="{474684D4-C2A8-4695-B974-B4B1B93C9A3A}" dt="2026-06-14T10:16:00.089" v="39" actId="1076"/>
          <ac:spMkLst>
            <pc:docMk/>
            <pc:sldMk cId="0" sldId="264"/>
            <ac:spMk id="34" creationId="{00000000-0000-0000-0000-000000000000}"/>
          </ac:spMkLst>
        </pc:spChg>
        <pc:spChg chg="mod">
          <ac:chgData name="Nishant Sharma" userId="ca5215d97c842314" providerId="LiveId" clId="{474684D4-C2A8-4695-B974-B4B1B93C9A3A}" dt="2026-06-14T10:15:54.299" v="38" actId="1076"/>
          <ac:spMkLst>
            <pc:docMk/>
            <pc:sldMk cId="0" sldId="264"/>
            <ac:spMk id="35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5233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yourself, the internship program, and the project title. Mention that this project addresses real farming challenges in Rajasthan.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scale of the problem. Rajasthan has millions of small farmers who cannot afford agronomists. Late disease detection causes massive losses.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both SDGs connect. Preventing crop disease helps food security (SDG 2), and reducing unnecessary pesticide use protects land ecosystems (SDG 15).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each component clearly. ML does the risk scoring, RAG retrieves expert knowledge, and IBM BOB helped build the system. Emphasize the combination creates more value than any one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pipeline left to right. Farmer enters crop and weather data → ML model predicts risk → RAG retrieves relevant disease docs → Streamlit shows combined advisory.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RAG: unlike a generic chatbot that gives generic answers, RAG retrieves specific expert documents first, then generates the answer from them — giving precise, source-backed advice. IBM BOB was used like a coding assistant throughout.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what the actual app looks like. Walk through: left sidebar is input, right panel shows risk result, probability bars, and RAG advisory with source citation.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Responsible AI is mandatory for the 1M1B submission. Emphasize that the system respects all 6 principles and is designed to support farmers, not replace human expertise.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real-world scale. Start with the numbers, then explain who benefits and how. Mention the Phase 2 roadmap shows you've thought beyond just the prototype.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 by summarizing the four pillars of the project. End with your contact info.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5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3657600" cy="3657600"/>
          </a:xfrm>
          <a:prstGeom prst="ellipse">
            <a:avLst/>
          </a:prstGeom>
          <a:solidFill>
            <a:srgbClr val="1E7A35">
              <a:alpha val="40000"/>
            </a:srgbClr>
          </a:solidFill>
          <a:ln w="12700">
            <a:solidFill>
              <a:srgbClr val="1E7A3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1E7A35">
              <a:alpha val="40000"/>
            </a:srgbClr>
          </a:solidFill>
          <a:ln w="12700">
            <a:solidFill>
              <a:srgbClr val="1E7A35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365760"/>
            <a:ext cx="3474720" cy="384048"/>
          </a:xfrm>
          <a:prstGeom prst="roundRect">
            <a:avLst>
              <a:gd name="adj" fmla="val 47619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365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1M1B × IBM SkillsBuild Internship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9601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🌾 AgriSense AI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Crop Disease Risk Prediction &amp;</a:t>
            </a:r>
            <a:endParaRPr lang="en-US" sz="2200" dirty="0"/>
          </a:p>
          <a:p>
            <a:pPr marL="0" indent="0" algn="l">
              <a:buNone/>
            </a:pPr>
            <a:r>
              <a:rPr lang="en-US" sz="2200" dirty="0">
                <a:solidFill>
                  <a:srgbClr val="D5F5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System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30632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SDG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Zero Hunger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560320" y="3063240"/>
            <a:ext cx="1920240" cy="640080"/>
          </a:xfrm>
          <a:prstGeom prst="roundRect">
            <a:avLst>
              <a:gd name="adj" fmla="val 14286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560320" y="30632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SDG 15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Life on Land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8229600" cy="0"/>
          </a:xfrm>
          <a:prstGeom prst="line">
            <a:avLst/>
          </a:prstGeom>
          <a:noFill/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9776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5F5E3"/>
                </a:solidFill>
              </a:rPr>
              <a:t>Nishant Sharma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D5F5E3"/>
                </a:solidFill>
              </a:rPr>
              <a:t>B.Tech AI &amp; Data Science | Arya College of Engineering, Jaipur | 2026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32320" y="13716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🌱</a:t>
            </a:r>
            <a:endParaRPr lang="en-US" sz="10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🚨  Problem Statement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960120"/>
          </a:xfrm>
          <a:prstGeom prst="roundRect">
            <a:avLst>
              <a:gd name="adj" fmla="val 11429"/>
            </a:avLst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960120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A5C2A"/>
                </a:solidFill>
              </a:rPr>
              <a:t>"How might we use AI to predict crop disease risk and provide advisory support so that small-scale farmers in Rajasthan can make more sustainable and informed farming decisions?"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214884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65760" y="2148840"/>
            <a:ext cx="196596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₹50,000 Cr+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65760" y="2514600"/>
            <a:ext cx="1965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</a:rPr>
              <a:t>Annual crop disease loss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</a:rPr>
              <a:t>in India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14600" y="214884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514600" y="2148840"/>
            <a:ext cx="1965960" cy="347472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14600" y="2148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30-40%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14600" y="2514600"/>
            <a:ext cx="1965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</a:rPr>
              <a:t>Yield loss due 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</a:rPr>
              <a:t>late disease detection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63440" y="214884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148840"/>
            <a:ext cx="1965960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663440" y="2148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70%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663440" y="2514600"/>
            <a:ext cx="1965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</a:rPr>
              <a:t>Farmers with no access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</a:rPr>
              <a:t>to agronomist advisory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12280" y="2148840"/>
            <a:ext cx="1965960" cy="1463040"/>
          </a:xfrm>
          <a:prstGeom prst="roundRect">
            <a:avLst>
              <a:gd name="adj" fmla="val 7500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812280" y="2148840"/>
            <a:ext cx="1965960" cy="347472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812280" y="214884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Rajasthan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12280" y="2514600"/>
            <a:ext cx="1965960" cy="10972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</a:rPr>
              <a:t>2nd largest state in India —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C2833"/>
                </a:solidFill>
              </a:rPr>
              <a:t>heavy dependence on agriculture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7490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5C2A"/>
                </a:solidFill>
              </a:rPr>
              <a:t>👥  Target Users: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0690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66573"/>
                </a:solidFill>
              </a:rPr>
              <a:t>Small &amp; marginal farmers (&lt; 5 acres) 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66573"/>
                </a:solidFill>
              </a:rPr>
              <a:t>Agricultural officers &amp; KVK workers 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566573"/>
                </a:solidFill>
              </a:rPr>
              <a:t>State Agri-Dept field supervisors in Rajasthan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🌍  SDG Alignment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PRIMARY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1417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🍽️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5C2A"/>
                </a:solidFill>
              </a:rPr>
              <a:t>SDG 2: Zero Hunger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37490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</a:rPr>
              <a:t>Protect crop yields from disease losses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</a:rPr>
              <a:t>Ensure food security for farming families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</a:rPr>
              <a:t>Support sustainable agricultural practices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</a:rPr>
              <a:t>Reduce economic vulnerability of small farmers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0" y="1051560"/>
            <a:ext cx="3931920" cy="3200400"/>
          </a:xfrm>
          <a:prstGeom prst="roundRect">
            <a:avLst>
              <a:gd name="adj" fmla="val 3429"/>
            </a:avLst>
          </a:prstGeom>
          <a:solidFill>
            <a:srgbClr val="D6EAF8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0" y="1051560"/>
            <a:ext cx="39319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0" y="105156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SECONDARY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1417320"/>
            <a:ext cx="3931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dirty="0">
                <a:solidFill>
                  <a:srgbClr val="000000"/>
                </a:solidFill>
              </a:rPr>
              <a:t>🌿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4663440" y="2148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3A5C"/>
                </a:solidFill>
              </a:rPr>
              <a:t>SDG 15: Life on Land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2578608"/>
            <a:ext cx="3749040" cy="1463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</a:rPr>
              <a:t>Reduce harmful pesticide overuse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</a:rPr>
              <a:t>Protect soil health and biodiversity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</a:rPr>
              <a:t>Prevent chemical runoff into water bodies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C2833"/>
                </a:solidFill>
              </a:rPr>
              <a:t>Promote precision agriculture practices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66573"/>
                </a:solidFill>
              </a:rPr>
              <a:t>Both goals are interconnected — healthier land = more food = better livelihoods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 AI Solution Overview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651760" cy="3794760"/>
          </a:xfrm>
          <a:prstGeom prst="roundRect">
            <a:avLst>
              <a:gd name="adj" fmla="val 4138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0058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🧠  ML Prediction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72768"/>
            <a:ext cx="2468880" cy="3108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Random Forest Classifier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trained on 600+ field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observations from Rajasthan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Predicts: Low / Medium / High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disease risk level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Features: Temperature,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Humidity, Rainfall, Soil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Moisture, Wind, Crop 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0" y="1005840"/>
            <a:ext cx="2651760" cy="3794760"/>
          </a:xfrm>
          <a:prstGeom prst="roundRect">
            <a:avLst>
              <a:gd name="adj" fmla="val 4138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📚  RAG Advisory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1572768"/>
            <a:ext cx="2468880" cy="3108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Retrieval Augmented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Generation from ICAR &amp;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Agri-Dept knowledge base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Retrieves: Top disease docs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matching current conditions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Sources: ICAR guidelines,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Rajasthan Agri bulletins,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Research papers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80760" y="1005840"/>
            <a:ext cx="2651760" cy="3794760"/>
          </a:xfrm>
          <a:prstGeom prst="roundRect">
            <a:avLst>
              <a:gd name="adj" fmla="val 4138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080760" y="1005840"/>
            <a:ext cx="2651760" cy="502920"/>
          </a:xfrm>
          <a:prstGeom prst="roundRect">
            <a:avLst>
              <a:gd name="adj" fmla="val 21818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100584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💻  IBM BOB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172200" y="1572768"/>
            <a:ext cx="2468880" cy="31089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AI Coding Assistant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used throughout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development process</a:t>
            </a:r>
            <a:endParaRPr lang="en-US" sz="1050" dirty="0"/>
          </a:p>
          <a:p>
            <a:pPr marL="0" indent="0" algn="l">
              <a:buNone/>
            </a:pP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Used for: Code generation,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ML pipeline design,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auto-documentation,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1C2833"/>
                </a:solidFill>
              </a:rPr>
              <a:t>code review &amp; refactoring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65760" y="47731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66573"/>
                </a:solidFill>
              </a:rPr>
              <a:t>These three components work together to deliver a complete, farmer-friendly advisory system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🏗️  System Architecture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Farmer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Input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👨‍🌾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74320" y="2258568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66573"/>
                </a:solidFill>
              </a:rPr>
              <a:t>Crop, Weather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66573"/>
                </a:solidFill>
              </a:rPr>
              <a:t>Soil Data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48840" y="2075688"/>
            <a:ext cx="402336" cy="0"/>
          </a:xfrm>
          <a:prstGeom prst="line">
            <a:avLst/>
          </a:prstGeom>
          <a:noFill/>
          <a:ln w="254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19842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C2A"/>
                </a:solidFill>
              </a:rPr>
              <a:t>▶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331720" y="109728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331720" y="109728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33172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ML Model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3317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331720" y="2258568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66573"/>
                </a:solidFill>
              </a:rPr>
              <a:t>Random Forest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66573"/>
                </a:solidFill>
              </a:rPr>
              <a:t>Risk Scorer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06240" y="2075688"/>
            <a:ext cx="402336" cy="0"/>
          </a:xfrm>
          <a:prstGeom prst="line">
            <a:avLst/>
          </a:prstGeom>
          <a:noFill/>
          <a:ln w="254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26280" y="19842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C2A"/>
                </a:solidFill>
              </a:rPr>
              <a:t>▶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389120" y="109728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389120" y="109728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38912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RAG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3891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389120" y="2258568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66573"/>
                </a:solidFill>
              </a:rPr>
              <a:t>Knowledge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66573"/>
                </a:solidFill>
              </a:rPr>
              <a:t>Retrieval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63640" y="2075688"/>
            <a:ext cx="402336" cy="0"/>
          </a:xfrm>
          <a:prstGeom prst="line">
            <a:avLst/>
          </a:prstGeom>
          <a:noFill/>
          <a:ln w="254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0" y="1984248"/>
            <a:ext cx="228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5C2A"/>
                </a:solidFill>
              </a:rPr>
              <a:t>▶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46520" y="1097280"/>
            <a:ext cx="182880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46520" y="109728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46520" y="10972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Advisory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System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46520" y="16002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💡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6446520" y="2258568"/>
            <a:ext cx="18288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66573"/>
                </a:solidFill>
              </a:rPr>
              <a:t>Combined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566573"/>
                </a:solidFill>
              </a:rPr>
              <a:t>Recommendations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74320" y="3291840"/>
            <a:ext cx="8595360" cy="1508760"/>
          </a:xfrm>
          <a:prstGeom prst="roundRect">
            <a:avLst>
              <a:gd name="adj" fmla="val 7273"/>
            </a:avLst>
          </a:prstGeom>
          <a:solidFill>
            <a:srgbClr val="D5F5E3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65760" y="33375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5C2A"/>
                </a:solidFill>
              </a:rPr>
              <a:t>📱  Streamlit Web App Output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✅ Risk Level (Low/Medium/High)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9184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🦠 Disease Name &amp; Description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126480" y="3749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💊 Treatment Recommendation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🛡️ Prevention Guidelines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91840" y="4160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📊 Probability Breakdown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74320" y="48646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66573"/>
                </a:solidFill>
              </a:rPr>
              <a:t>Tech Stack: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325880" y="4846320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325880" y="4846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Python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834640" y="4846320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834640" y="4846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Streamlit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343400" y="4846320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343400" y="4846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Scikit-learn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5852160" y="4846320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5852160" y="4846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Pandas / NumPy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360920" y="4846320"/>
            <a:ext cx="1371600" cy="256032"/>
          </a:xfrm>
          <a:prstGeom prst="roundRect">
            <a:avLst>
              <a:gd name="adj" fmla="val 35714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60920" y="484632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IBM BOB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📚  RAG + IBM BOB — Deep Dive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995928"/>
          </a:xfrm>
          <a:prstGeom prst="roundRect">
            <a:avLst>
              <a:gd name="adj" fmla="val 2857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78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E44AD"/>
                </a:solidFill>
              </a:rPr>
              <a:t>📚 RAG (Retrieval Augmented Generation)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84048" y="1581912"/>
            <a:ext cx="320040" cy="3200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84048" y="1581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77240" y="1508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</a:rPr>
              <a:t>1️⃣ Farmer Query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77240" y="176479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User enters crop + weather conditions into the system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84048" y="2386584"/>
            <a:ext cx="320040" cy="3200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84048" y="238658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" y="231343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</a:rPr>
              <a:t>2️⃣ Condition Matching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77240" y="25694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System matches conditions to knowledge base entries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" y="3191256"/>
            <a:ext cx="320040" cy="3200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84048" y="319125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3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77240" y="31181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</a:rPr>
              <a:t>3️⃣ Document Retrieval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77240" y="337413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Top-2 most relevant disease docs are retrieved from ICAR/Agri-Dept PDFs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3995928"/>
            <a:ext cx="320040" cy="320040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84048" y="3995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" y="39227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</a:rPr>
              <a:t>4️⃣ Response Generation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77240" y="417880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Retrieved text is combined with risk prediction to generate precise advisory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4526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</a:rPr>
              <a:t>Knowledge Base Sources: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47731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ICAR Research Bulletins  •  Rajasthan Agriculture Dept Guidelines  •  AICPMIP Crop Advisories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05840"/>
            <a:ext cx="4114800" cy="3945988"/>
          </a:xfrm>
          <a:prstGeom prst="roundRect">
            <a:avLst>
              <a:gd name="adj" fmla="val 2857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754880" y="107899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</a:rPr>
              <a:t>💻 IBM BOB — AI Coding Partner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754880" y="150876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</a:rPr>
              <a:t>✦ Code Generation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54880" y="175564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Generated Streamlit UI boilerplate and ML pipeline structure from natural language prompts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217627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</a:rPr>
              <a:t>✦ ML Architecture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0" y="2423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Suggested optimal Random Forest parameters and feature engineering approach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284378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</a:rPr>
              <a:t>✦ Auto Documentation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54880" y="309067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Auto-generated README.md and inline code comments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4754880" y="351129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</a:rPr>
              <a:t>✦ Code Review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54880" y="3758184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Identified and fixed bugs in RAG retrieval logic and data preprocessing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417880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833"/>
                </a:solidFill>
              </a:rPr>
              <a:t>✦ Productivity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0" y="44256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66573"/>
                </a:solidFill>
              </a:rPr>
              <a:t>Estimated 3x faster development vs writing all code manually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📱  Prototype Demo — Streamlit App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286000" cy="3931920"/>
          </a:xfrm>
          <a:prstGeom prst="roundRect">
            <a:avLst>
              <a:gd name="adj" fmla="val 4800"/>
            </a:avLst>
          </a:prstGeom>
          <a:solidFill>
            <a:srgbClr val="1E2B1A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097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CC71"/>
                </a:solidFill>
              </a:rPr>
              <a:t>🌾 AgriSense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481328"/>
            <a:ext cx="2011680" cy="0"/>
          </a:xfrm>
          <a:prstGeom prst="line">
            <a:avLst/>
          </a:prstGeom>
          <a:noFill/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5F5E3"/>
                </a:solidFill>
              </a:rPr>
              <a:t>Crop &amp; Field Details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65760" y="18745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D6B0"/>
                </a:solidFill>
              </a:rPr>
              <a:t>Select Crop: Wheat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65760" y="21671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D6B0"/>
                </a:solidFill>
              </a:rPr>
              <a:t>Growth Stage: Flowering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65760" y="2459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2ECC71"/>
                </a:solidFill>
              </a:rPr>
              <a:t>──────────────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65760" y="27523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D6B0"/>
                </a:solidFill>
              </a:rPr>
              <a:t>Temperature: 22°C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65760" y="30449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D6B0"/>
                </a:solidFill>
              </a:rPr>
              <a:t>Humidity: 78%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65760" y="333756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D6B0"/>
                </a:solidFill>
              </a:rPr>
              <a:t>Rainfall: 18 mm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65760" y="36301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D6B0"/>
                </a:solidFill>
              </a:rPr>
              <a:t>Soil Moisture: 65%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65760" y="39227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AED6B0"/>
                </a:solidFill>
              </a:rPr>
              <a:t>Wind Speed: 6 km/h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65760" y="4251960"/>
            <a:ext cx="2011680" cy="365760"/>
          </a:xfrm>
          <a:prstGeom prst="roundRect">
            <a:avLst>
              <a:gd name="adj" fmla="val 25000"/>
            </a:avLst>
          </a:prstGeom>
          <a:solidFill>
            <a:srgbClr val="2ECC71"/>
          </a:solidFill>
          <a:ln w="1270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425196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🔍 Analyze Risk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788920" y="1005840"/>
            <a:ext cx="60350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880360" y="1097280"/>
            <a:ext cx="2743200" cy="594360"/>
          </a:xfrm>
          <a:prstGeom prst="roundRect">
            <a:avLst>
              <a:gd name="adj" fmla="val 15385"/>
            </a:avLst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880360" y="109728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⚠️  MEDIUM RISK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88036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</a:rPr>
              <a:t>📊 Risk Probability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880360" y="21031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Low Risk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931920" y="2157984"/>
            <a:ext cx="1828800" cy="15544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931920" y="2157984"/>
            <a:ext cx="329184" cy="155448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06440" y="21031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8449"/>
                </a:solidFill>
              </a:rPr>
              <a:t>18%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880360" y="245059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Medium Risk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931920" y="2505456"/>
            <a:ext cx="1828800" cy="15544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3931920" y="2505456"/>
            <a:ext cx="1115568" cy="155448"/>
          </a:xfrm>
          <a:prstGeom prst="rect">
            <a:avLst/>
          </a:prstGeom>
          <a:solidFill>
            <a:srgbClr val="D68910"/>
          </a:solidFill>
          <a:ln w="12700">
            <a:solidFill>
              <a:srgbClr val="D6891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806440" y="245059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68910"/>
                </a:solidFill>
              </a:rPr>
              <a:t>61%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880360" y="2798064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66573"/>
                </a:solidFill>
              </a:rPr>
              <a:t>High Risk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931920" y="2852928"/>
            <a:ext cx="1828800" cy="155448"/>
          </a:xfrm>
          <a:prstGeom prst="rect">
            <a:avLst/>
          </a:prstGeom>
          <a:solidFill>
            <a:srgbClr val="E0E0E0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931920" y="2852928"/>
            <a:ext cx="384048" cy="1554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806440" y="279806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21%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880360" y="321868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E44AD"/>
                </a:solidFill>
              </a:rPr>
              <a:t>📚 RAG Advisory — Powdery Mildew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2880360" y="3520440"/>
            <a:ext cx="5806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66573"/>
                </a:solidFill>
              </a:rPr>
              <a:t>Description: White powdery coating on leaves | Treatment: Spray Karathane 40 EC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566573"/>
                </a:solidFill>
              </a:rPr>
              <a:t>Source: Rajasthan Agriculture Department Bulletin 2023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66573"/>
                </a:solidFill>
              </a:rPr>
              <a:t>Run: streamlit run app.py  |  GitHub: github.com/NishantSharma2004/agrisense-ai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🛡️  Responsible AI Considerations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402336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515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 Fairness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Training data includes diverse crop types, weather scenarios &amp; Rajasthan regional variations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075688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No bias toward large farms — system designed for small &amp; marginal farmers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0" y="105156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200400" y="1051560"/>
            <a:ext cx="2743200" cy="402336"/>
          </a:xfrm>
          <a:prstGeom prst="roundRect">
            <a:avLst>
              <a:gd name="adj" fmla="val 22727"/>
            </a:avLst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10515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🔍  Transparency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91840" y="1508760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Risk probability breakdown shown to every user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291840" y="2075688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All advisory recommendations cite their source document (ICAR, Agri-Dept)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126480" y="105156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126480" y="1051560"/>
            <a:ext cx="2743200" cy="402336"/>
          </a:xfrm>
          <a:prstGeom prst="roundRect">
            <a:avLst>
              <a:gd name="adj" fmla="val 22727"/>
            </a:avLst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0" y="105156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🔒  Privacy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17920" y="1508760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Zero personal farmer data collected or stored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217920" y="2075688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All analysis is done locally — no cloud data transmission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2971800"/>
            <a:ext cx="2743200" cy="402336"/>
          </a:xfrm>
          <a:prstGeom prst="roundRect">
            <a:avLst>
              <a:gd name="adj" fmla="val 22727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29718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⚠️  Ethics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" y="3429000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Always recommends consulting KVK experts for final decisions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995928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Advisory is a support tool — not a replacement for agronomist judgment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200400" y="2971800"/>
            <a:ext cx="2743200" cy="402336"/>
          </a:xfrm>
          <a:prstGeom prst="roundRect">
            <a:avLst>
              <a:gd name="adj" fmla="val 22727"/>
            </a:avLst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00400" y="29718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♿  Accessibility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291840" y="3429000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Simple UI with emoji-based indicators for low digital literacy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91840" y="3995928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Supports bilingual advisory (Hindi/English)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743200" cy="1737360"/>
          </a:xfrm>
          <a:prstGeom prst="roundRect">
            <a:avLst>
              <a:gd name="adj" fmla="val 6316"/>
            </a:avLst>
          </a:prstGeom>
          <a:solidFill>
            <a:srgbClr val="F8FDF9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126480" y="2971800"/>
            <a:ext cx="2743200" cy="402336"/>
          </a:xfrm>
          <a:prstGeom prst="roundRect">
            <a:avLst>
              <a:gd name="adj" fmla="val 22727"/>
            </a:avLst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126480" y="2971800"/>
            <a:ext cx="27432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🌱  Sustainability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17920" y="3429000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Designed to REDUCE pesticide use, not increase it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17920" y="3995928"/>
            <a:ext cx="256032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833"/>
                </a:solidFill>
              </a:rPr>
              <a:t>Recommends chemical treatment only when risk is High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📈  Expected Impact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2011680" cy="365760"/>
          </a:xfrm>
          <a:prstGeom prst="rect">
            <a:avLst/>
          </a:prstGeom>
          <a:solidFill>
            <a:srgbClr val="1A5C2A"/>
          </a:solidFill>
          <a:ln w="12700">
            <a:solidFill>
              <a:srgbClr val="1A5C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5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50,000+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74320" y="2029968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Farmers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Rajasthan who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could benefit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50592" y="100584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450592" y="1005840"/>
            <a:ext cx="2011680" cy="36576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50592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20-30%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50592" y="2029968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Reduction in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disease-related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crop losses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26864" y="100584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26864" y="1005840"/>
            <a:ext cx="2011680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26864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39C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₹2,000-5,000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626864" y="2029968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Per acre savings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from reduced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unneeded pesticides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803136" y="1005840"/>
            <a:ext cx="201168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803136" y="1005840"/>
            <a:ext cx="2011680" cy="3657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803136" y="13716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8E44A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803136" y="2029968"/>
            <a:ext cx="201168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Faster disease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detection vs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C2833"/>
                </a:solidFill>
              </a:rPr>
              <a:t>manual scouting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74320" y="2971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5C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Benefits &amp; How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274320" y="34015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👨‍🌾 Small Farmers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148840" y="3401568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573"/>
                </a:solidFill>
              </a:rPr>
              <a:t>Early disease warning → timely treatment → higher yields → better income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274320" y="382219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🏛️ Govt. Agri. Officers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2148840" y="3822192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573"/>
                </a:solidFill>
              </a:rPr>
              <a:t>Data-driven crop health monitoring across districts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74320" y="424281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🌍 Environment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148840" y="4242816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573"/>
                </a:solidFill>
              </a:rPr>
              <a:t>Precision pesticide use reduces soil &amp; water contamination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274320" y="4663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3A5C"/>
                </a:solidFill>
              </a:rPr>
              <a:t>🍽️ Food Supply Chain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2148840" y="4663440"/>
            <a:ext cx="6675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66573"/>
                </a:solidFill>
              </a:rPr>
              <a:t>Healthier crops → stable supply → affordable food prices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11351" y="3006970"/>
            <a:ext cx="2574388" cy="2075688"/>
          </a:xfrm>
          <a:prstGeom prst="roundRect">
            <a:avLst>
              <a:gd name="adj" fmla="val 5000"/>
            </a:avLst>
          </a:prstGeom>
          <a:solidFill>
            <a:srgbClr val="D5F5E3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766560" y="294929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C2A"/>
                </a:solidFill>
              </a:rPr>
              <a:t>🚀 If Implemented at Scale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59061" y="3344946"/>
            <a:ext cx="23985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• Partner with state Krishi Vigyan Kendras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559061" y="3612935"/>
            <a:ext cx="239854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• Integrate with PM-KISAN farmer database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559061" y="3919963"/>
            <a:ext cx="22226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• Add IoT soil sensor integration (Phase 2)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59061" y="4178457"/>
            <a:ext cx="22086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• Expand to all 15+ major Rajasthan crops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559061" y="4451722"/>
            <a:ext cx="229303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833"/>
                </a:solidFill>
              </a:rPr>
              <a:t>• Mobile app in Hindi for wider reach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5C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731520"/>
            <a:ext cx="4572000" cy="4572000"/>
          </a:xfrm>
          <a:prstGeom prst="ellipse">
            <a:avLst/>
          </a:prstGeom>
          <a:solidFill>
            <a:srgbClr val="1E7A35">
              <a:alpha val="35000"/>
            </a:srgbClr>
          </a:solidFill>
          <a:ln w="12700">
            <a:solidFill>
              <a:srgbClr val="1E7A3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1E7A35">
              <a:alpha val="35000"/>
            </a:srgbClr>
          </a:solidFill>
          <a:ln w="12700">
            <a:solidFill>
              <a:srgbClr val="1E7A35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🌾 AgriSense AI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2070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5F5E3"/>
                </a:solidFill>
              </a:rPr>
              <a:t>AI-Powered Crop Disease Risk Prediction for Sustainable Agriculture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1E4A28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</a:rPr>
              <a:t>🧠 ML Prediction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267712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D6B0"/>
                </a:solidFill>
              </a:rPr>
              <a:t>Random Forest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ED6B0"/>
                </a:solidFill>
              </a:rPr>
              <a:t>Disease Risk Scoring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60320" y="182880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1E4A28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</a:rPr>
              <a:t>📚 RAG Advisory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560320" y="2267712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D6B0"/>
                </a:solidFill>
              </a:rPr>
              <a:t>ICAR Knowledge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ED6B0"/>
                </a:solidFill>
              </a:rPr>
              <a:t>Retrieval System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63440" y="182880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1E4A28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6344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</a:rPr>
              <a:t>💻 IBM BOB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63440" y="2267712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D6B0"/>
                </a:solidFill>
              </a:rPr>
              <a:t>AI-Assisted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ED6B0"/>
                </a:solidFill>
              </a:rPr>
              <a:t>Development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66560" y="1828800"/>
            <a:ext cx="1920240" cy="1280160"/>
          </a:xfrm>
          <a:prstGeom prst="roundRect">
            <a:avLst>
              <a:gd name="adj" fmla="val 8571"/>
            </a:avLst>
          </a:prstGeom>
          <a:solidFill>
            <a:srgbClr val="1E4A28"/>
          </a:solidFill>
          <a:ln w="6350">
            <a:solidFill>
              <a:srgbClr val="CCCCCC"/>
            </a:solidFill>
            <a:prstDash val="solid"/>
          </a:ln>
          <a:effectLst>
            <a:outerShdw blurRad="101600" dist="2540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1874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C71"/>
                </a:solidFill>
              </a:rPr>
              <a:t>🌍 SDG 2 + 15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766560" y="2267712"/>
            <a:ext cx="1920240" cy="7315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AED6B0"/>
                </a:solidFill>
              </a:rPr>
              <a:t>Zero Hunger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AED6B0"/>
                </a:solidFill>
              </a:rPr>
              <a:t>Life on Land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0"/>
          </a:xfrm>
          <a:prstGeom prst="line">
            <a:avLst/>
          </a:prstGeom>
          <a:noFill/>
          <a:ln w="1016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429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Nishant Sharma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385876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5F5E3"/>
                </a:solidFill>
              </a:rPr>
              <a:t>B.Tech AI &amp; Data Science | Arya College of Engineering, Jaipur | CGPA: 8.0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51960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1E4A28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251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D6B0"/>
                </a:solidFill>
              </a:rPr>
              <a:t>📧 nishantbansiya@gmail.com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3291840" y="4251960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1E4A28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91840" y="4251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D6B0"/>
                </a:solidFill>
              </a:rPr>
              <a:t>🌐 nishantsharma2004.github.io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4251960"/>
            <a:ext cx="2743200" cy="347472"/>
          </a:xfrm>
          <a:prstGeom prst="roundRect">
            <a:avLst>
              <a:gd name="adj" fmla="val 31579"/>
            </a:avLst>
          </a:prstGeom>
          <a:solidFill>
            <a:srgbClr val="1E4A28"/>
          </a:solidFill>
          <a:ln w="6350">
            <a:solidFill>
              <a:srgbClr val="2ECC7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126480" y="42519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ED6B0"/>
                </a:solidFill>
              </a:rPr>
              <a:t>💻 github.com/NishantSharma2004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ECC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1316</Words>
  <Application>Microsoft Office PowerPoint</Application>
  <PresentationFormat>On-screen Show (16:9)</PresentationFormat>
  <Paragraphs>255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AgriSense AI — 1M1B Sustainability Internship</dc:title>
  <dc:subject>PptxGenJS Presentation</dc:subject>
  <dc:creator>Nishant Sharma</dc:creator>
  <cp:lastModifiedBy>Nishant Sharma</cp:lastModifiedBy>
  <cp:revision>1</cp:revision>
  <dcterms:created xsi:type="dcterms:W3CDTF">2026-06-13T08:27:37Z</dcterms:created>
  <dcterms:modified xsi:type="dcterms:W3CDTF">2026-06-14T10:16:15Z</dcterms:modified>
</cp:coreProperties>
</file>